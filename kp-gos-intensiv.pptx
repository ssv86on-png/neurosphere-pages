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E0E0E0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18CF8"/>
                </a:solidFill>
                <a:latin typeface="Calibri"/>
              </a:defRPr>
            </a:pPr>
            <a:r>
              <a:t>Обучение искусственному интеллекту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Calibri"/>
              </a:defRPr>
            </a:pPr>
            <a:r>
              <a:t>для госслужащих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Два формата: краткий интенсив (15 000 ₽) или полный курс с дипломом МГРИ (64 800 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🧠 НейроСфера — Центр ИИ на базе МГРИ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18CF8"/>
                </a:solidFill>
                <a:latin typeface="Calibri"/>
              </a:defRPr>
            </a:pPr>
            <a:r>
              <a:t>🎯 Два формата обучения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181825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EE7B7"/>
                </a:solidFill>
                <a:latin typeface="Calibri"/>
              </a:defRPr>
            </a:pPr>
            <a:r>
              <a:t>⚡ КРАТКИЙ ИНТЕНСИВ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E0E0"/>
                </a:solidFill>
                <a:latin typeface="Calibri"/>
              </a:defRPr>
            </a:pPr>
            <a:r>
              <a:t>«ИИ для госслужащих»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5B4FC"/>
                </a:solidFill>
                <a:latin typeface="Calibri"/>
              </a:defRPr>
            </a:pPr>
            <a:r>
              <a:t>15 000 ₽ / человек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от 50 человек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📚 До 10 часов обучения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🌐 Полностью дистанционно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📋 Базовые практические знания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📜 Сертификат МГРИ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solidFill>
            <a:srgbClr val="18182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3C5FD"/>
                </a:solidFill>
                <a:latin typeface="Calibri"/>
              </a:defRPr>
            </a:pPr>
            <a:r>
              <a:t>🎓 ПОЛНЫЙ КУРС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E0E0"/>
                </a:solidFill>
                <a:latin typeface="Calibri"/>
              </a:defRPr>
            </a:pPr>
            <a:r>
              <a:t>«Специалист по работе с ИИ»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5B4FC"/>
                </a:solidFill>
                <a:latin typeface="Calibri"/>
              </a:defRPr>
            </a:pPr>
            <a:r>
              <a:t>64 800 ₽ / человек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индивидуально или в группе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📚 108 часов — глубокое погружение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🌐 Полностью дистанционно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🧠 Углублённая программа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🎓 Диплом МГРИ гос. образца (ФИС ФРДО)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8CF8"/>
                </a:solidFill>
                <a:latin typeface="Calibri"/>
              </a:defRPr>
            </a:pPr>
            <a:r>
              <a:t>📋 Программа краткого интенсива (10 часов)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Введение в ИИ: что такое нейросети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 ч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57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ChatGPT, DeepSeek, GigaChat — обзор AI-инструментов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057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1,5 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65176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Промпт-инжиниринг: как ставить задачи нейросетям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1,5 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24612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46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ИИ в работе с документами: подготовка, анализ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246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 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84048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Анализ данных и отчётов с помощью 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1,5 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43484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34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Безопасность и этика ИИ в госсекторе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434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 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029200"/>
            <a:ext cx="73152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29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Модуль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10 практических кейсов для госслужбы + Q&amp;A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029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1,5 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Формат: 2 дня по 5 часов или 5 дней по 2 часа. Полностью онлайн.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💰 Стоимость для госзаказа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EE7B7"/>
                </a:solidFill>
                <a:latin typeface="Calibri"/>
              </a:defRPr>
            </a:pPr>
            <a:r>
              <a:t>Вариант 1 — Краткий интенсив (15 000 ₽ / чел)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011680"/>
            <a:ext cx="8229600" cy="5486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011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50 человек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A5B4FC"/>
                </a:solidFill>
                <a:latin typeface="Calibri"/>
              </a:defRPr>
            </a:pPr>
            <a:r>
              <a:t>750 000 ₽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51760"/>
            <a:ext cx="8229600" cy="5486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100 человек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A5B4FC"/>
                </a:solidFill>
                <a:latin typeface="Calibri"/>
              </a:defRPr>
            </a:pPr>
            <a:r>
              <a:t>1 500 000 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291840"/>
            <a:ext cx="8229600" cy="5486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200 человек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A5B4FC"/>
                </a:solidFill>
                <a:latin typeface="Calibri"/>
              </a:defRPr>
            </a:pPr>
            <a:r>
              <a:t>3 000 000 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600 человек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A5B4FC"/>
                </a:solidFill>
                <a:latin typeface="Calibri"/>
              </a:defRPr>
            </a:pPr>
            <a:r>
              <a:t>9 000 000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3C5FD"/>
                </a:solidFill>
                <a:latin typeface="Calibri"/>
              </a:defRPr>
            </a:pPr>
            <a:r>
              <a:t>Вариант 2 — Полный курс (64 800 ₽ / чел)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120640"/>
            <a:ext cx="8229600" cy="45720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10 человек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93C5FD"/>
                </a:solidFill>
                <a:latin typeface="Calibri"/>
              </a:defRPr>
            </a:pPr>
            <a:r>
              <a:t>648 000 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623560"/>
            <a:ext cx="8229600" cy="45720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5623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25 человек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623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93C5FD"/>
                </a:solidFill>
                <a:latin typeface="Calibri"/>
              </a:defRPr>
            </a:pPr>
            <a:r>
              <a:t>1 620 000 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6126480"/>
            <a:ext cx="8229600" cy="45720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6126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50 человек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126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93C5FD"/>
                </a:solidFill>
                <a:latin typeface="Calibri"/>
              </a:defRPr>
            </a:pPr>
            <a:r>
              <a:t>3 240 000 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🏆 Почему НейроСфера?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46304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463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🎓 Диплом МГРИ гос. образца (ФИС ФРДО)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1945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🏆 Топ-28 по трудоустройству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92608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926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📜 Образовательная лицензия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65760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657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⚡ Практика с первого дня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38912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389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🧠 Context Engineering — главный навык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120640"/>
            <a:ext cx="8229600" cy="64008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5120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✅ 📚 398+ задач в олимпиадном задачнике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  <a:latin typeface="Calibri"/>
              </a:defRPr>
            </a:pPr>
            <a:r>
              <a:t>📋 Как начать обучение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0E0E0"/>
                </a:solidFill>
                <a:latin typeface="Calibri"/>
              </a:defRPr>
            </a:pPr>
            <a: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5B4FC"/>
                </a:solidFill>
                <a:latin typeface="Calibri"/>
              </a:defRPr>
            </a:pPr>
            <a:r>
              <a:t>Связаться с нами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Выбираем формат и даты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0E0E0"/>
                </a:solidFill>
                <a:latin typeface="Calibri"/>
              </a:defRPr>
            </a:pPr>
            <a:r>
              <a:t>2️⃣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5B4FC"/>
                </a:solidFill>
                <a:latin typeface="Calibri"/>
              </a:defRPr>
            </a:pPr>
            <a:r>
              <a:t>Подписываем договор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Стандартная форма для госзаказа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023360"/>
            <a:ext cx="9144000" cy="9144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02336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0E0E0"/>
                </a:solidFill>
                <a:latin typeface="Calibri"/>
              </a:defRPr>
            </a:pPr>
            <a:r>
              <a:t>3️⃣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5B4FC"/>
                </a:solidFill>
                <a:latin typeface="Calibri"/>
              </a:defRPr>
            </a:pPr>
            <a:r>
              <a:t>Проводим 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Онлайн, в удобное время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120640"/>
            <a:ext cx="9144000" cy="91440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1206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0E0E0"/>
                </a:solidFill>
                <a:latin typeface="Calibri"/>
              </a:defRPr>
            </a:pPr>
            <a:r>
              <a:t>4️⃣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5B4FC"/>
                </a:solidFill>
                <a:latin typeface="Calibri"/>
              </a:defRPr>
            </a:pPr>
            <a:r>
              <a:t>Выдаём документы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Удостоверение / диплом МГРИ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18CF8"/>
                </a:solidFill>
                <a:latin typeface="Calibri"/>
              </a:defRPr>
            </a:pPr>
            <a:r>
              <a:t>📩 Контакты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🧠 НейроСфера — Центр ИИ на базе МГРИ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🌐 neurosphere.group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📧 4610777@mail.ru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📞 +7 (495) 461-07-78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A0A0F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📄 КП: neurosphere-pages.vercel.app/gov-intensive-kp.html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🏛️ Презентация: neurosphere-pages.vercel.app/ivanovo-gov-presentation.html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ООО «ОСНОВА» | ИНН 7722783931 | Образовательная лицензия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